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06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CB2C733-5EEB-4326-BEC3-CE953B8A5C4E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ED7ECEB-9DA1-4ECA-B182-0FAD3F1965D4}">
      <dgm:prSet/>
      <dgm:spPr/>
      <dgm:t>
        <a:bodyPr/>
        <a:lstStyle/>
        <a:p>
          <a:r>
            <a:rPr lang="en-US"/>
            <a:t>• Unified login page</a:t>
          </a:r>
        </a:p>
      </dgm:t>
    </dgm:pt>
    <dgm:pt modelId="{B6CBE6FE-90E1-46A6-891D-6B56CD9762AA}" type="parTrans" cxnId="{3A04D3AC-342D-4829-9FB3-C4947AF5054D}">
      <dgm:prSet/>
      <dgm:spPr/>
      <dgm:t>
        <a:bodyPr/>
        <a:lstStyle/>
        <a:p>
          <a:endParaRPr lang="en-US"/>
        </a:p>
      </dgm:t>
    </dgm:pt>
    <dgm:pt modelId="{79C3034A-5A1C-43D5-A7F2-919DAF65E137}" type="sibTrans" cxnId="{3A04D3AC-342D-4829-9FB3-C4947AF5054D}">
      <dgm:prSet/>
      <dgm:spPr/>
      <dgm:t>
        <a:bodyPr/>
        <a:lstStyle/>
        <a:p>
          <a:endParaRPr lang="en-US"/>
        </a:p>
      </dgm:t>
    </dgm:pt>
    <dgm:pt modelId="{C8D4443F-BA69-437C-9E3B-306B132BFD24}">
      <dgm:prSet/>
      <dgm:spPr/>
      <dgm:t>
        <a:bodyPr/>
        <a:lstStyle/>
        <a:p>
          <a:r>
            <a:rPr lang="en-US"/>
            <a:t>• Role-based redirection</a:t>
          </a:r>
        </a:p>
      </dgm:t>
    </dgm:pt>
    <dgm:pt modelId="{BD9476EC-46A3-4850-A6DA-4920941D59D7}" type="parTrans" cxnId="{05111236-850E-4604-9377-BE3FE60BD2ED}">
      <dgm:prSet/>
      <dgm:spPr/>
      <dgm:t>
        <a:bodyPr/>
        <a:lstStyle/>
        <a:p>
          <a:endParaRPr lang="en-US"/>
        </a:p>
      </dgm:t>
    </dgm:pt>
    <dgm:pt modelId="{7BB994C6-5F90-4C32-9A48-D4160E665228}" type="sibTrans" cxnId="{05111236-850E-4604-9377-BE3FE60BD2ED}">
      <dgm:prSet/>
      <dgm:spPr/>
      <dgm:t>
        <a:bodyPr/>
        <a:lstStyle/>
        <a:p>
          <a:endParaRPr lang="en-US"/>
        </a:p>
      </dgm:t>
    </dgm:pt>
    <dgm:pt modelId="{46530D89-5650-4FDD-AAA2-36E29EE4B36A}">
      <dgm:prSet/>
      <dgm:spPr/>
      <dgm:t>
        <a:bodyPr/>
        <a:lstStyle/>
        <a:p>
          <a:r>
            <a:rPr lang="en-US"/>
            <a:t>• Secure password recovery flow</a:t>
          </a:r>
        </a:p>
      </dgm:t>
    </dgm:pt>
    <dgm:pt modelId="{155ABD3E-3A7E-4A5E-8005-B8AD426CA9EF}" type="parTrans" cxnId="{471887FB-EEEA-4BC2-85C5-7891023E9CD2}">
      <dgm:prSet/>
      <dgm:spPr/>
      <dgm:t>
        <a:bodyPr/>
        <a:lstStyle/>
        <a:p>
          <a:endParaRPr lang="en-US"/>
        </a:p>
      </dgm:t>
    </dgm:pt>
    <dgm:pt modelId="{41581599-CFB7-4ACD-BDE1-A6BC5C2C4631}" type="sibTrans" cxnId="{471887FB-EEEA-4BC2-85C5-7891023E9CD2}">
      <dgm:prSet/>
      <dgm:spPr/>
      <dgm:t>
        <a:bodyPr/>
        <a:lstStyle/>
        <a:p>
          <a:endParaRPr lang="en-US"/>
        </a:p>
      </dgm:t>
    </dgm:pt>
    <dgm:pt modelId="{90B8BD47-2BCB-4412-86C4-2CC9E5679591}" type="pres">
      <dgm:prSet presAssocID="{BCB2C733-5EEB-4326-BEC3-CE953B8A5C4E}" presName="cycle" presStyleCnt="0">
        <dgm:presLayoutVars>
          <dgm:dir/>
          <dgm:resizeHandles val="exact"/>
        </dgm:presLayoutVars>
      </dgm:prSet>
      <dgm:spPr/>
    </dgm:pt>
    <dgm:pt modelId="{33BA0BE9-A18E-4B3E-8B23-96CA146BDAAD}" type="pres">
      <dgm:prSet presAssocID="{1ED7ECEB-9DA1-4ECA-B182-0FAD3F1965D4}" presName="dummy" presStyleCnt="0"/>
      <dgm:spPr/>
    </dgm:pt>
    <dgm:pt modelId="{724C4376-E98B-47AB-8B1C-475C0A2C8C5C}" type="pres">
      <dgm:prSet presAssocID="{1ED7ECEB-9DA1-4ECA-B182-0FAD3F1965D4}" presName="node" presStyleLbl="revTx" presStyleIdx="0" presStyleCnt="3">
        <dgm:presLayoutVars>
          <dgm:bulletEnabled val="1"/>
        </dgm:presLayoutVars>
      </dgm:prSet>
      <dgm:spPr/>
    </dgm:pt>
    <dgm:pt modelId="{272458B3-5763-45A3-B70B-9FC2F1C91479}" type="pres">
      <dgm:prSet presAssocID="{79C3034A-5A1C-43D5-A7F2-919DAF65E137}" presName="sibTrans" presStyleLbl="node1" presStyleIdx="0" presStyleCnt="3"/>
      <dgm:spPr/>
    </dgm:pt>
    <dgm:pt modelId="{096D53AC-F01E-4334-88FD-6B886FA69E4D}" type="pres">
      <dgm:prSet presAssocID="{C8D4443F-BA69-437C-9E3B-306B132BFD24}" presName="dummy" presStyleCnt="0"/>
      <dgm:spPr/>
    </dgm:pt>
    <dgm:pt modelId="{FCEB3CEC-0E3C-4040-A2CA-EB4004BFD571}" type="pres">
      <dgm:prSet presAssocID="{C8D4443F-BA69-437C-9E3B-306B132BFD24}" presName="node" presStyleLbl="revTx" presStyleIdx="1" presStyleCnt="3">
        <dgm:presLayoutVars>
          <dgm:bulletEnabled val="1"/>
        </dgm:presLayoutVars>
      </dgm:prSet>
      <dgm:spPr/>
    </dgm:pt>
    <dgm:pt modelId="{DEADC55C-A065-4022-85E7-02B1DEBD26CF}" type="pres">
      <dgm:prSet presAssocID="{7BB994C6-5F90-4C32-9A48-D4160E665228}" presName="sibTrans" presStyleLbl="node1" presStyleIdx="1" presStyleCnt="3"/>
      <dgm:spPr/>
    </dgm:pt>
    <dgm:pt modelId="{17D9698F-ECD9-40B2-98CD-49357E7E3A90}" type="pres">
      <dgm:prSet presAssocID="{46530D89-5650-4FDD-AAA2-36E29EE4B36A}" presName="dummy" presStyleCnt="0"/>
      <dgm:spPr/>
    </dgm:pt>
    <dgm:pt modelId="{0AC584CE-283C-4C19-9E57-EEAB85EB5201}" type="pres">
      <dgm:prSet presAssocID="{46530D89-5650-4FDD-AAA2-36E29EE4B36A}" presName="node" presStyleLbl="revTx" presStyleIdx="2" presStyleCnt="3">
        <dgm:presLayoutVars>
          <dgm:bulletEnabled val="1"/>
        </dgm:presLayoutVars>
      </dgm:prSet>
      <dgm:spPr/>
    </dgm:pt>
    <dgm:pt modelId="{D73054D9-744B-4074-9ABD-F72594790D27}" type="pres">
      <dgm:prSet presAssocID="{41581599-CFB7-4ACD-BDE1-A6BC5C2C4631}" presName="sibTrans" presStyleLbl="node1" presStyleIdx="2" presStyleCnt="3"/>
      <dgm:spPr/>
    </dgm:pt>
  </dgm:ptLst>
  <dgm:cxnLst>
    <dgm:cxn modelId="{05111236-850E-4604-9377-BE3FE60BD2ED}" srcId="{BCB2C733-5EEB-4326-BEC3-CE953B8A5C4E}" destId="{C8D4443F-BA69-437C-9E3B-306B132BFD24}" srcOrd="1" destOrd="0" parTransId="{BD9476EC-46A3-4850-A6DA-4920941D59D7}" sibTransId="{7BB994C6-5F90-4C32-9A48-D4160E665228}"/>
    <dgm:cxn modelId="{90AEAC62-64A6-4DD9-AE68-9467FEE3BD6D}" type="presOf" srcId="{C8D4443F-BA69-437C-9E3B-306B132BFD24}" destId="{FCEB3CEC-0E3C-4040-A2CA-EB4004BFD571}" srcOrd="0" destOrd="0" presId="urn:microsoft.com/office/officeart/2005/8/layout/cycle1"/>
    <dgm:cxn modelId="{94240377-800A-43C8-80E4-801E3C1F03BA}" type="presOf" srcId="{79C3034A-5A1C-43D5-A7F2-919DAF65E137}" destId="{272458B3-5763-45A3-B70B-9FC2F1C91479}" srcOrd="0" destOrd="0" presId="urn:microsoft.com/office/officeart/2005/8/layout/cycle1"/>
    <dgm:cxn modelId="{BA2E4A77-C4E8-4373-ADF9-C570BA13FF54}" type="presOf" srcId="{7BB994C6-5F90-4C32-9A48-D4160E665228}" destId="{DEADC55C-A065-4022-85E7-02B1DEBD26CF}" srcOrd="0" destOrd="0" presId="urn:microsoft.com/office/officeart/2005/8/layout/cycle1"/>
    <dgm:cxn modelId="{E64ADB8B-4D0B-48FF-AEAF-AD05A1915430}" type="presOf" srcId="{46530D89-5650-4FDD-AAA2-36E29EE4B36A}" destId="{0AC584CE-283C-4C19-9E57-EEAB85EB5201}" srcOrd="0" destOrd="0" presId="urn:microsoft.com/office/officeart/2005/8/layout/cycle1"/>
    <dgm:cxn modelId="{3A04D3AC-342D-4829-9FB3-C4947AF5054D}" srcId="{BCB2C733-5EEB-4326-BEC3-CE953B8A5C4E}" destId="{1ED7ECEB-9DA1-4ECA-B182-0FAD3F1965D4}" srcOrd="0" destOrd="0" parTransId="{B6CBE6FE-90E1-46A6-891D-6B56CD9762AA}" sibTransId="{79C3034A-5A1C-43D5-A7F2-919DAF65E137}"/>
    <dgm:cxn modelId="{871F54B7-7FD4-4ACB-A3C2-EF6A7B7A44B1}" type="presOf" srcId="{41581599-CFB7-4ACD-BDE1-A6BC5C2C4631}" destId="{D73054D9-744B-4074-9ABD-F72594790D27}" srcOrd="0" destOrd="0" presId="urn:microsoft.com/office/officeart/2005/8/layout/cycle1"/>
    <dgm:cxn modelId="{1419D8C3-7333-4375-A491-0C39350FB606}" type="presOf" srcId="{BCB2C733-5EEB-4326-BEC3-CE953B8A5C4E}" destId="{90B8BD47-2BCB-4412-86C4-2CC9E5679591}" srcOrd="0" destOrd="0" presId="urn:microsoft.com/office/officeart/2005/8/layout/cycle1"/>
    <dgm:cxn modelId="{00F1C1D6-924B-4FA1-8050-557D1803C141}" type="presOf" srcId="{1ED7ECEB-9DA1-4ECA-B182-0FAD3F1965D4}" destId="{724C4376-E98B-47AB-8B1C-475C0A2C8C5C}" srcOrd="0" destOrd="0" presId="urn:microsoft.com/office/officeart/2005/8/layout/cycle1"/>
    <dgm:cxn modelId="{471887FB-EEEA-4BC2-85C5-7891023E9CD2}" srcId="{BCB2C733-5EEB-4326-BEC3-CE953B8A5C4E}" destId="{46530D89-5650-4FDD-AAA2-36E29EE4B36A}" srcOrd="2" destOrd="0" parTransId="{155ABD3E-3A7E-4A5E-8005-B8AD426CA9EF}" sibTransId="{41581599-CFB7-4ACD-BDE1-A6BC5C2C4631}"/>
    <dgm:cxn modelId="{B82B27A8-BB87-4BDC-BCB2-DAD49BBA750C}" type="presParOf" srcId="{90B8BD47-2BCB-4412-86C4-2CC9E5679591}" destId="{33BA0BE9-A18E-4B3E-8B23-96CA146BDAAD}" srcOrd="0" destOrd="0" presId="urn:microsoft.com/office/officeart/2005/8/layout/cycle1"/>
    <dgm:cxn modelId="{7BB01F21-40C1-4F59-80BB-614C4D053A75}" type="presParOf" srcId="{90B8BD47-2BCB-4412-86C4-2CC9E5679591}" destId="{724C4376-E98B-47AB-8B1C-475C0A2C8C5C}" srcOrd="1" destOrd="0" presId="urn:microsoft.com/office/officeart/2005/8/layout/cycle1"/>
    <dgm:cxn modelId="{DFC1F774-175D-4983-B4E6-6AE97C2AE7BA}" type="presParOf" srcId="{90B8BD47-2BCB-4412-86C4-2CC9E5679591}" destId="{272458B3-5763-45A3-B70B-9FC2F1C91479}" srcOrd="2" destOrd="0" presId="urn:microsoft.com/office/officeart/2005/8/layout/cycle1"/>
    <dgm:cxn modelId="{29F159A6-C439-4A5A-9D5F-AA9153A269DF}" type="presParOf" srcId="{90B8BD47-2BCB-4412-86C4-2CC9E5679591}" destId="{096D53AC-F01E-4334-88FD-6B886FA69E4D}" srcOrd="3" destOrd="0" presId="urn:microsoft.com/office/officeart/2005/8/layout/cycle1"/>
    <dgm:cxn modelId="{C80CA0CC-1183-45C8-AA4A-464AB8989738}" type="presParOf" srcId="{90B8BD47-2BCB-4412-86C4-2CC9E5679591}" destId="{FCEB3CEC-0E3C-4040-A2CA-EB4004BFD571}" srcOrd="4" destOrd="0" presId="urn:microsoft.com/office/officeart/2005/8/layout/cycle1"/>
    <dgm:cxn modelId="{A4C39E19-CB0C-432F-960C-DB20FBCD8E4A}" type="presParOf" srcId="{90B8BD47-2BCB-4412-86C4-2CC9E5679591}" destId="{DEADC55C-A065-4022-85E7-02B1DEBD26CF}" srcOrd="5" destOrd="0" presId="urn:microsoft.com/office/officeart/2005/8/layout/cycle1"/>
    <dgm:cxn modelId="{455CDF56-ACAE-448C-8AA2-05178B921A19}" type="presParOf" srcId="{90B8BD47-2BCB-4412-86C4-2CC9E5679591}" destId="{17D9698F-ECD9-40B2-98CD-49357E7E3A90}" srcOrd="6" destOrd="0" presId="urn:microsoft.com/office/officeart/2005/8/layout/cycle1"/>
    <dgm:cxn modelId="{2562A950-6481-4F9A-BDE9-687A59285A19}" type="presParOf" srcId="{90B8BD47-2BCB-4412-86C4-2CC9E5679591}" destId="{0AC584CE-283C-4C19-9E57-EEAB85EB5201}" srcOrd="7" destOrd="0" presId="urn:microsoft.com/office/officeart/2005/8/layout/cycle1"/>
    <dgm:cxn modelId="{4884292C-7EA9-4657-A6FC-7294C183FC0C}" type="presParOf" srcId="{90B8BD47-2BCB-4412-86C4-2CC9E5679591}" destId="{D73054D9-744B-4074-9ABD-F72594790D27}" srcOrd="8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4C4376-E98B-47AB-8B1C-475C0A2C8C5C}">
      <dsp:nvSpPr>
        <dsp:cNvPr id="0" name=""/>
        <dsp:cNvSpPr/>
      </dsp:nvSpPr>
      <dsp:spPr>
        <a:xfrm>
          <a:off x="4695402" y="333237"/>
          <a:ext cx="1707802" cy="17078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Unified login page</a:t>
          </a:r>
        </a:p>
      </dsp:txBody>
      <dsp:txXfrm>
        <a:off x="4695402" y="333237"/>
        <a:ext cx="1707802" cy="1707802"/>
      </dsp:txXfrm>
    </dsp:sp>
    <dsp:sp modelId="{272458B3-5763-45A3-B70B-9FC2F1C91479}">
      <dsp:nvSpPr>
        <dsp:cNvPr id="0" name=""/>
        <dsp:cNvSpPr/>
      </dsp:nvSpPr>
      <dsp:spPr>
        <a:xfrm>
          <a:off x="2097603" y="-1846"/>
          <a:ext cx="4034392" cy="4034392"/>
        </a:xfrm>
        <a:prstGeom prst="circularArrow">
          <a:avLst>
            <a:gd name="adj1" fmla="val 8255"/>
            <a:gd name="adj2" fmla="val 576638"/>
            <a:gd name="adj3" fmla="val 2961472"/>
            <a:gd name="adj4" fmla="val 53319"/>
            <a:gd name="adj5" fmla="val 963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EB3CEC-0E3C-4040-A2CA-EB4004BFD571}">
      <dsp:nvSpPr>
        <dsp:cNvPr id="0" name=""/>
        <dsp:cNvSpPr/>
      </dsp:nvSpPr>
      <dsp:spPr>
        <a:xfrm>
          <a:off x="3260898" y="2817871"/>
          <a:ext cx="1707802" cy="17078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Role-based redirection</a:t>
          </a:r>
        </a:p>
      </dsp:txBody>
      <dsp:txXfrm>
        <a:off x="3260898" y="2817871"/>
        <a:ext cx="1707802" cy="1707802"/>
      </dsp:txXfrm>
    </dsp:sp>
    <dsp:sp modelId="{DEADC55C-A065-4022-85E7-02B1DEBD26CF}">
      <dsp:nvSpPr>
        <dsp:cNvPr id="0" name=""/>
        <dsp:cNvSpPr/>
      </dsp:nvSpPr>
      <dsp:spPr>
        <a:xfrm>
          <a:off x="2097603" y="-1846"/>
          <a:ext cx="4034392" cy="4034392"/>
        </a:xfrm>
        <a:prstGeom prst="circularArrow">
          <a:avLst>
            <a:gd name="adj1" fmla="val 8255"/>
            <a:gd name="adj2" fmla="val 576638"/>
            <a:gd name="adj3" fmla="val 10170043"/>
            <a:gd name="adj4" fmla="val 7261890"/>
            <a:gd name="adj5" fmla="val 963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C584CE-283C-4C19-9E57-EEAB85EB5201}">
      <dsp:nvSpPr>
        <dsp:cNvPr id="0" name=""/>
        <dsp:cNvSpPr/>
      </dsp:nvSpPr>
      <dsp:spPr>
        <a:xfrm>
          <a:off x="1826394" y="333237"/>
          <a:ext cx="1707802" cy="17078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Secure password recovery flow</a:t>
          </a:r>
        </a:p>
      </dsp:txBody>
      <dsp:txXfrm>
        <a:off x="1826394" y="333237"/>
        <a:ext cx="1707802" cy="1707802"/>
      </dsp:txXfrm>
    </dsp:sp>
    <dsp:sp modelId="{D73054D9-744B-4074-9ABD-F72594790D27}">
      <dsp:nvSpPr>
        <dsp:cNvPr id="0" name=""/>
        <dsp:cNvSpPr/>
      </dsp:nvSpPr>
      <dsp:spPr>
        <a:xfrm>
          <a:off x="2097603" y="-1846"/>
          <a:ext cx="4034392" cy="4034392"/>
        </a:xfrm>
        <a:prstGeom prst="circularArrow">
          <a:avLst>
            <a:gd name="adj1" fmla="val 8255"/>
            <a:gd name="adj2" fmla="val 576638"/>
            <a:gd name="adj3" fmla="val 16854496"/>
            <a:gd name="adj4" fmla="val 14968867"/>
            <a:gd name="adj5" fmla="val 963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62D44EE-C852-4460-B8B5-C4F2BC205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46037" y="739978"/>
            <a:ext cx="4001197" cy="3004145"/>
          </a:xfrm>
        </p:spPr>
        <p:txBody>
          <a:bodyPr>
            <a:normAutofit/>
          </a:bodyPr>
          <a:lstStyle/>
          <a:p>
            <a:pPr>
              <a:defRPr sz="3800">
                <a:solidFill>
                  <a:srgbClr val="FFFFFF"/>
                </a:solidFill>
              </a:defRPr>
            </a:pPr>
            <a:r>
              <a:rPr dirty="0"/>
              <a:t>Gen M &amp; Z</a:t>
            </a:r>
          </a:p>
          <a:p>
            <a:r>
              <a:rPr dirty="0"/>
              <a:t>E-Commerce Project Plan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46036" y="3836197"/>
            <a:ext cx="4001198" cy="289855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 sz="1800">
                <a:solidFill>
                  <a:srgbClr val="C8C8C8"/>
                </a:solidFill>
              </a:defRPr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Professional Fashion E-Commerce Platform</a:t>
            </a:r>
          </a:p>
          <a:p>
            <a:pPr>
              <a:lnSpc>
                <a:spcPct val="90000"/>
              </a:lnSpc>
            </a:pPr>
            <a:endParaRPr lang="en-US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 Delivery Time: 3 Weeks (Insha’Allah)</a:t>
            </a:r>
          </a:p>
          <a:p>
            <a:pPr algn="l">
              <a:lnSpc>
                <a:spcPct val="90000"/>
              </a:lnSpc>
            </a:pPr>
            <a:endParaRPr lang="en-US" sz="5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l">
              <a:lnSpc>
                <a:spcPct val="90000"/>
              </a:lnSpc>
            </a:pPr>
            <a:endParaRPr lang="en-US" sz="5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l">
              <a:lnSpc>
                <a:spcPct val="90000"/>
              </a:lnSpc>
            </a:pPr>
            <a:endParaRPr lang="en-US" sz="5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l">
              <a:lnSpc>
                <a:spcPct val="90000"/>
              </a:lnSpc>
            </a:pPr>
            <a:endParaRPr lang="en-US" sz="5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l">
              <a:lnSpc>
                <a:spcPct val="90000"/>
              </a:lnSpc>
            </a:pPr>
            <a:endParaRPr lang="en-US" sz="5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l">
              <a:lnSpc>
                <a:spcPct val="90000"/>
              </a:lnSpc>
            </a:pPr>
            <a:endParaRPr lang="ar-EG" sz="5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l">
              <a:lnSpc>
                <a:spcPct val="90000"/>
              </a:lnSpc>
            </a:pPr>
            <a:endParaRPr lang="ar-EG" sz="5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l">
              <a:lnSpc>
                <a:spcPct val="90000"/>
              </a:lnSpc>
            </a:pPr>
            <a:endParaRPr lang="en-US" sz="5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l">
              <a:lnSpc>
                <a:spcPct val="90000"/>
              </a:lnSpc>
            </a:pPr>
            <a:endParaRPr lang="en-US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l">
              <a:lnSpc>
                <a:spcPct val="90000"/>
              </a:lnSpc>
            </a:pPr>
            <a:endParaRPr lang="en-US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l">
              <a:lnSpc>
                <a:spcPct val="90000"/>
              </a:lnSpc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Developed by:</a:t>
            </a:r>
          </a:p>
          <a:p>
            <a:pPr algn="l">
              <a:lnSpc>
                <a:spcPct val="90000"/>
              </a:lnSpc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Youssef Darwish</a:t>
            </a:r>
          </a:p>
          <a:p>
            <a:pPr algn="l">
              <a:lnSpc>
                <a:spcPct val="90000"/>
              </a:lnSpc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FSD &amp; NO-CODE Solutions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6" y="1"/>
            <a:ext cx="866357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261789" y="0"/>
            <a:ext cx="1303050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16245"/>
            <a:ext cx="119805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161135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773320" y="5717906"/>
            <a:ext cx="1328707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D58E0E-CF05-CC1B-2D24-3427F06BFE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316" r="11686" b="3"/>
          <a:stretch>
            <a:fillRect/>
          </a:stretch>
        </p:blipFill>
        <p:spPr>
          <a:xfrm>
            <a:off x="473880" y="598720"/>
            <a:ext cx="3883686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390384" y="6258756"/>
            <a:ext cx="1174455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6100024" y="863980"/>
            <a:ext cx="2987899" cy="2240924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1221" y="479493"/>
            <a:ext cx="4094129" cy="1325563"/>
          </a:xfrm>
        </p:spPr>
        <p:txBody>
          <a:bodyPr>
            <a:norm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rPr lang="en-US" sz="3200"/>
              <a:t>Project Overview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004647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DAB7A1-598D-A543-302E-DEBD0A2E1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386" y="1552610"/>
            <a:ext cx="3583036" cy="3583036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3CF70DC-1C88-3F56-ADDB-25C6074E27E0}"/>
              </a:ext>
            </a:extLst>
          </p:cNvPr>
          <p:cNvSpPr txBox="1"/>
          <p:nvPr/>
        </p:nvSpPr>
        <p:spPr>
          <a:xfrm>
            <a:off x="4835693" y="1805056"/>
            <a:ext cx="35830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 fully integrated fashion </a:t>
            </a:r>
            <a:endParaRPr lang="ar-EG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e-commerce platform in Saudi Arabia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Modern UI/UX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Scalable &amp; Secure Architecture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6100024" y="863980"/>
            <a:ext cx="2987899" cy="2240924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1221" y="479493"/>
            <a:ext cx="4094129" cy="1325563"/>
          </a:xfrm>
        </p:spPr>
        <p:txBody>
          <a:bodyPr>
            <a:norm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rPr lang="en-US" sz="3200"/>
              <a:t>Project Goals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004647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964FA8-AB2D-4B71-52D9-26342F05C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386" y="1552610"/>
            <a:ext cx="3583036" cy="3583036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21221" y="1984443"/>
            <a:ext cx="4094129" cy="4192520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Build a professional online store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Enhance customer experience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Automate operations &amp; accounting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Enable business scalability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D81A2A-6ED4-4EF4-A14C-912D31E14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4045020" cy="1325563"/>
          </a:xfrm>
        </p:spPr>
        <p:txBody>
          <a:bodyPr>
            <a:norm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rPr lang="en-US" sz="3200"/>
              <a:t>Target Users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661932C-CA15-4E17-B115-FAE7CBEE4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48992" y="1"/>
            <a:ext cx="866357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4045020" cy="4351338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Customers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Admin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Employees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Support Team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590ADD5-9383-4D3D-9047-3DA2593CC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06138" y="3423959"/>
            <a:ext cx="405617" cy="540822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9750A9-6ACD-AE29-ED17-BDF4EE102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5388" y="1689117"/>
            <a:ext cx="2835788" cy="2835788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ABE3E45-88CF-45D8-8D40-C773324D9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2201" y="1"/>
            <a:ext cx="1550211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9CD1692-827B-4C8D-B4A1-134FD04CF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104058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91ECDA9-56DC-4270-8F33-01C5637B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5592435" y="5166682"/>
            <a:ext cx="1376793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5F47824-961D-465D-84F9-EAE11BC61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07145" y="6033795"/>
            <a:ext cx="1493298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EC9DA3E-C1D7-472D-B7C0-F71AE41FB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8772" y="5519196"/>
            <a:ext cx="1005228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32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rPr lang="en-US"/>
              <a:t>Authentication System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B6709D32-DB45-C017-78E3-8C0DF542BB0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F395AE29-D04E-182A-DF56-CEEBC28F58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6865" y="4913906"/>
            <a:ext cx="2427135" cy="194409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412" y="-1"/>
            <a:ext cx="3909949" cy="6883030"/>
            <a:chOff x="-19217" y="-1"/>
            <a:chExt cx="5213267" cy="688303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613" y="739835"/>
            <a:ext cx="2776935" cy="1616203"/>
          </a:xfrm>
        </p:spPr>
        <p:txBody>
          <a:bodyPr anchor="b">
            <a:norm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rPr lang="en-US" sz="2800">
                <a:solidFill>
                  <a:srgbClr val="FFFFFF"/>
                </a:solidFill>
              </a:rPr>
              <a:t>Customer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6613" y="2459116"/>
            <a:ext cx="2776934" cy="3524823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lang="en-US" sz="1700">
                <a:solidFill>
                  <a:srgbClr val="FFFFFF"/>
                </a:solidFill>
              </a:rPr>
              <a:t>• Creative homepage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US" sz="1700">
                <a:solidFill>
                  <a:srgbClr val="FFFFFF"/>
                </a:solidFill>
              </a:rPr>
              <a:t>• Product options (Size, Color)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US" sz="1700">
                <a:solidFill>
                  <a:srgbClr val="FFFFFF"/>
                </a:solidFill>
              </a:rPr>
              <a:t>• Smooth checkout flow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US" sz="1700">
                <a:solidFill>
                  <a:srgbClr val="FFFFFF"/>
                </a:solidFill>
              </a:rPr>
              <a:t>• Order tracking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E0E50E-A4C5-8F76-0D70-EEC41D684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978" y="1401374"/>
            <a:ext cx="4055251" cy="40552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0DF6B93-F3AC-40E0-8651-89582E5E87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027539-FDC1-4BD7-ABD3-2C9688465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6475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46EFA5-E6C7-4867-8011-E729148E8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4349" y="685800"/>
            <a:ext cx="5057215" cy="5486400"/>
          </a:xfrm>
          <a:prstGeom prst="rect">
            <a:avLst/>
          </a:pr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1849" y="1158949"/>
            <a:ext cx="4095919" cy="1118087"/>
          </a:xfrm>
        </p:spPr>
        <p:txBody>
          <a:bodyPr anchor="b">
            <a:norm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rPr lang="en-US" sz="2800">
                <a:solidFill>
                  <a:schemeClr val="tx1">
                    <a:lumMod val="65000"/>
                    <a:lumOff val="35000"/>
                  </a:schemeClr>
                </a:solidFill>
              </a:rPr>
              <a:t>Payments &amp; Shipping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1849" y="2563907"/>
            <a:ext cx="4095919" cy="2976191"/>
          </a:xfrm>
        </p:spPr>
        <p:txBody>
          <a:bodyPr anchor="t">
            <a:norm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</a:rPr>
              <a:t>• Cash on Delivery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</a:rPr>
              <a:t>• Bank Transfer (Receipt Upload)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</a:rPr>
              <a:t>• Apple Pay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</a:rPr>
              <a:t>• Card Payments via Tap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</a:rPr>
              <a:t>• Storage Station Integration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21C847-4AEB-C19C-E6C3-9B7B0A0E93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596" r="6968" b="5"/>
          <a:stretch>
            <a:fillRect/>
          </a:stretch>
        </p:blipFill>
        <p:spPr>
          <a:xfrm>
            <a:off x="6584949" y="685798"/>
            <a:ext cx="2044701" cy="24214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C2B03BD-284C-B7E2-3739-88D8FF1C4D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596" r="6968" b="5"/>
          <a:stretch>
            <a:fillRect/>
          </a:stretch>
        </p:blipFill>
        <p:spPr>
          <a:xfrm>
            <a:off x="6584949" y="3750732"/>
            <a:ext cx="2044701" cy="24214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AA03EDC-7067-4DFF-B672-541D016AA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BF3E39-B0BE-496A-8604-9007470FF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654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581" y="685800"/>
            <a:ext cx="3264837" cy="1474666"/>
          </a:xfrm>
        </p:spPr>
        <p:txBody>
          <a:bodyPr anchor="b">
            <a:norm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rPr lang="en-US" sz="2800">
                <a:solidFill>
                  <a:srgbClr val="595959"/>
                </a:solidFill>
              </a:rPr>
              <a:t>Customer Account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581" y="2447337"/>
            <a:ext cx="3264837" cy="3770434"/>
          </a:xfrm>
        </p:spPr>
        <p:txBody>
          <a:bodyPr anchor="t">
            <a:norm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lang="en-US" sz="1700">
                <a:solidFill>
                  <a:srgbClr val="595959"/>
                </a:solidFill>
              </a:rPr>
              <a:t>• Order history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US" sz="1700">
                <a:solidFill>
                  <a:srgbClr val="595959"/>
                </a:solidFill>
              </a:rPr>
              <a:t>• Digital wallet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US" sz="1700">
                <a:solidFill>
                  <a:srgbClr val="595959"/>
                </a:solidFill>
              </a:rPr>
              <a:t>• Tax invoices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US" sz="1700">
                <a:solidFill>
                  <a:srgbClr val="595959"/>
                </a:solidFill>
              </a:rPr>
              <a:t>• Saved addresses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AC647E-EB65-85BA-5A5E-0798EA989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350" y="1652889"/>
            <a:ext cx="3597792" cy="35977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C3420C89-0B09-4632-A4AF-3971D08BF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lor Cover">
            <a:extLst>
              <a:ext uri="{FF2B5EF4-FFF2-40B4-BE49-F238E27FC236}">
                <a16:creationId xmlns:a16="http://schemas.microsoft.com/office/drawing/2014/main" id="{4E5CBA61-BF74-40B4-A3A8-366BBA626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C27E70C-5470-4262-B9CE-AE52C51CF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929"/>
            <a:ext cx="9141714" cy="3490956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B5C7D35F-738C-47DF-AD6E-859806E46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740F8C8B-E52F-46CF-89C7-51C6A037CF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897FE10D-FF64-02B9-7EC4-C19EE928B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2735" y="1655170"/>
            <a:ext cx="3547660" cy="354766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9"/>
            <a:ext cx="4269714" cy="2587131"/>
          </a:xfrm>
        </p:spPr>
        <p:txBody>
          <a:bodyPr anchor="b">
            <a:normAutofit/>
          </a:bodyPr>
          <a:lstStyle/>
          <a:p>
            <a:pPr algn="l">
              <a:defRPr sz="3200" b="1">
                <a:solidFill>
                  <a:srgbClr val="FFD700"/>
                </a:solidFill>
              </a:defRPr>
            </a:pPr>
            <a:r>
              <a:rPr lang="en-US" sz="4200">
                <a:solidFill>
                  <a:schemeClr val="bg1"/>
                </a:solidFill>
              </a:rPr>
              <a:t>Admin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787" y="3566810"/>
            <a:ext cx="4269715" cy="2651110"/>
          </a:xfrm>
        </p:spPr>
        <p:txBody>
          <a:bodyPr anchor="ctr">
            <a:norm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lang="en-US" sz="1600">
                <a:solidFill>
                  <a:schemeClr val="tx2"/>
                </a:solidFill>
              </a:rPr>
              <a:t>• Orders management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US" sz="1600">
                <a:solidFill>
                  <a:schemeClr val="tx2"/>
                </a:solidFill>
              </a:rPr>
              <a:t>• Products &amp; inventory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US" sz="1600">
                <a:solidFill>
                  <a:schemeClr val="tx2"/>
                </a:solidFill>
              </a:rPr>
              <a:t>• Customers &amp; employees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US" sz="1600">
                <a:solidFill>
                  <a:schemeClr val="tx2"/>
                </a:solidFill>
              </a:rPr>
              <a:t>• Discounts &amp; promotions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07D943FC-7A2D-40FA-9C30-CAEA51F1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A9AA21F-497A-4BF7-9C74-2EFA3EE4F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1714" cy="6858000"/>
            <a:chOff x="651279" y="598259"/>
            <a:chExt cx="10889442" cy="5680742"/>
          </a:xfrm>
        </p:grpSpPr>
        <p:sp>
          <p:nvSpPr>
            <p:cNvPr id="12" name="Color">
              <a:extLst>
                <a:ext uri="{FF2B5EF4-FFF2-40B4-BE49-F238E27FC236}">
                  <a16:creationId xmlns:a16="http://schemas.microsoft.com/office/drawing/2014/main" id="{F3A96AAF-F15D-48EB-B6A2-1D72010658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DA0A1F48-0282-4627-B0EC-BD65FE7929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6200000">
            <a:off x="-1108161" y="2099341"/>
            <a:ext cx="4471415" cy="2485581"/>
          </a:xfrm>
        </p:spPr>
        <p:txBody>
          <a:bodyPr anchor="ctr">
            <a:normAutofit/>
          </a:bodyPr>
          <a:lstStyle/>
          <a:p>
            <a:pPr algn="l">
              <a:defRPr sz="3200" b="1">
                <a:solidFill>
                  <a:srgbClr val="FFD700"/>
                </a:solidFill>
              </a:defRPr>
            </a:pPr>
            <a:r>
              <a:rPr lang="en-US" sz="4200">
                <a:solidFill>
                  <a:schemeClr val="bg1"/>
                </a:solidFill>
              </a:rPr>
              <a:t>Accounting System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71D9DBE-9F90-43A4-8285-A7A992865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42723" y="1504484"/>
            <a:ext cx="6467281" cy="43616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7144" y="1708030"/>
            <a:ext cx="2907902" cy="4014160"/>
          </a:xfrm>
        </p:spPr>
        <p:txBody>
          <a:bodyPr anchor="ctr">
            <a:norm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lang="en-US" sz="1600">
                <a:solidFill>
                  <a:schemeClr val="tx2"/>
                </a:solidFill>
              </a:rPr>
              <a:t>• Cost tracking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US" sz="1600">
                <a:solidFill>
                  <a:schemeClr val="tx2"/>
                </a:solidFill>
              </a:rPr>
              <a:t>• VAT calculation (15%)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US" sz="1600">
                <a:solidFill>
                  <a:schemeClr val="tx2"/>
                </a:solidFill>
              </a:rPr>
              <a:t>• Net profit analysis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US" sz="1600">
                <a:solidFill>
                  <a:schemeClr val="tx2"/>
                </a:solidFill>
              </a:rPr>
              <a:t>• Financial reports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44FA75-DB17-5BA7-1C05-1E003D577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978" y="2049315"/>
            <a:ext cx="3272026" cy="327202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913AE63C-D5B4-45D1-ACFC-648CFFCF9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lor Cover">
            <a:extLst>
              <a:ext uri="{FF2B5EF4-FFF2-40B4-BE49-F238E27FC236}">
                <a16:creationId xmlns:a16="http://schemas.microsoft.com/office/drawing/2014/main" id="{34DE9D20-D6C2-4834-9EE9-EC583F3FE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840C728-4E01-4237-82C8-9624DFA85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88" y="0"/>
            <a:ext cx="4548176" cy="68580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F1CFB22B-2D73-4F2C-953D-8C306B45B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819F58A9-E813-4511-BEF2-5B65BB7285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D417511E-7D9E-85AC-3D04-1CB44401D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3796" y="1620317"/>
            <a:ext cx="3606599" cy="3606599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9"/>
            <a:ext cx="3805776" cy="3018870"/>
          </a:xfrm>
        </p:spPr>
        <p:txBody>
          <a:bodyPr anchor="b">
            <a:normAutofit/>
          </a:bodyPr>
          <a:lstStyle/>
          <a:p>
            <a:pPr algn="l">
              <a:defRPr sz="3200" b="1">
                <a:solidFill>
                  <a:srgbClr val="FFD700"/>
                </a:solidFill>
              </a:defRPr>
            </a:pPr>
            <a:r>
              <a:rPr lang="en-US" sz="4200">
                <a:solidFill>
                  <a:schemeClr val="bg1"/>
                </a:solidFill>
              </a:rPr>
              <a:t>Legal &amp; Policy Pages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787" y="3952172"/>
            <a:ext cx="3805776" cy="2229172"/>
          </a:xfrm>
        </p:spPr>
        <p:txBody>
          <a:bodyPr anchor="t">
            <a:norm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lang="en-US" sz="1600">
                <a:solidFill>
                  <a:schemeClr val="bg1"/>
                </a:solidFill>
              </a:rPr>
              <a:t>• Terms &amp; Conditions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US" sz="1600">
                <a:solidFill>
                  <a:schemeClr val="bg1"/>
                </a:solidFill>
              </a:rPr>
              <a:t>• Privacy Policy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US" sz="1600">
                <a:solidFill>
                  <a:schemeClr val="bg1"/>
                </a:solidFill>
              </a:rPr>
              <a:t>• Return &amp; Exchange Policy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US" sz="1600">
                <a:solidFill>
                  <a:schemeClr val="bg1"/>
                </a:solidFill>
              </a:rPr>
              <a:t>• Delivery Policy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913AE63C-D5B4-45D1-ACFC-648CFFCF9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lor Cover">
            <a:extLst>
              <a:ext uri="{FF2B5EF4-FFF2-40B4-BE49-F238E27FC236}">
                <a16:creationId xmlns:a16="http://schemas.microsoft.com/office/drawing/2014/main" id="{34DE9D20-D6C2-4834-9EE9-EC583F3FE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840C728-4E01-4237-82C8-9624DFA85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88" y="0"/>
            <a:ext cx="4548176" cy="68580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F1CFB22B-2D73-4F2C-953D-8C306B45B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819F58A9-E813-4511-BEF2-5B65BB7285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7404F1CF-9B64-C587-35CF-AD584603E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3796" y="1620317"/>
            <a:ext cx="3606599" cy="3606599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9"/>
            <a:ext cx="3805776" cy="3018870"/>
          </a:xfrm>
        </p:spPr>
        <p:txBody>
          <a:bodyPr anchor="b">
            <a:normAutofit/>
          </a:bodyPr>
          <a:lstStyle/>
          <a:p>
            <a:pPr algn="l">
              <a:defRPr sz="3200" b="1">
                <a:solidFill>
                  <a:srgbClr val="FFD700"/>
                </a:solidFill>
              </a:defRPr>
            </a:pPr>
            <a:r>
              <a:rPr lang="en-US" sz="4200">
                <a:solidFill>
                  <a:schemeClr val="bg1"/>
                </a:solidFill>
              </a:rPr>
              <a:t>Final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787" y="3952172"/>
            <a:ext cx="3805776" cy="2229172"/>
          </a:xfrm>
        </p:spPr>
        <p:txBody>
          <a:bodyPr anchor="t">
            <a:norm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lang="en-US" sz="1600">
                <a:solidFill>
                  <a:schemeClr val="bg1"/>
                </a:solidFill>
              </a:rPr>
              <a:t>A complete professional e-commerce system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US" sz="1600">
                <a:solidFill>
                  <a:schemeClr val="bg1"/>
                </a:solidFill>
              </a:rPr>
              <a:t>Ready for launch &amp; future expansion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222</Words>
  <Application>Microsoft Office PowerPoint</Application>
  <PresentationFormat>On-screen Show (4:3)</PresentationFormat>
  <Paragraphs>71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Gen M &amp; Z E-Commerce Project Plan</vt:lpstr>
      <vt:lpstr>Project Overview</vt:lpstr>
      <vt:lpstr>Project Goals</vt:lpstr>
      <vt:lpstr>Target Users</vt:lpstr>
      <vt:lpstr>Authentication System</vt:lpstr>
      <vt:lpstr>Customer Experience</vt:lpstr>
      <vt:lpstr>Payments &amp; Shipping</vt:lpstr>
      <vt:lpstr>Customer Account</vt:lpstr>
      <vt:lpstr>Admin Dashboard</vt:lpstr>
      <vt:lpstr>Accounting System</vt:lpstr>
      <vt:lpstr>Legal &amp; Policy Pages</vt:lpstr>
      <vt:lpstr>Final Outcome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Youssef Darsh</dc:creator>
  <cp:keywords/>
  <dc:description>generated using python-pptx</dc:description>
  <cp:lastModifiedBy>Office</cp:lastModifiedBy>
  <cp:revision>2</cp:revision>
  <dcterms:created xsi:type="dcterms:W3CDTF">2013-01-27T09:14:16Z</dcterms:created>
  <dcterms:modified xsi:type="dcterms:W3CDTF">2025-12-25T05:56:35Z</dcterms:modified>
  <cp:category/>
</cp:coreProperties>
</file>